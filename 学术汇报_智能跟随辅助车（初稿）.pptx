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42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实际距离</c:v>
                </c:pt>
              </c:strCache>
            </c:strRef>
          </c:tx>
          <c:spPr>
            <a:solidFill>
              <a:srgbClr val="808080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15.8</c:v>
                </c:pt>
                <c:pt idx="1">
                  <c:v>24.7</c:v>
                </c:pt>
                <c:pt idx="2">
                  <c:v>30.3</c:v>
                </c:pt>
                <c:pt idx="3">
                  <c:v>48.6</c:v>
                </c:pt>
                <c:pt idx="4">
                  <c:v>90.0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15.8</c:v>
                </c:pt>
                <c:pt idx="1">
                  <c:v>24.7</c:v>
                </c:pt>
                <c:pt idx="2">
                  <c:v>30.3</c:v>
                </c:pt>
                <c:pt idx="3">
                  <c:v>48.6</c:v>
                </c:pt>
                <c:pt idx="4">
                  <c:v>90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821-45DA-8079-40FB34A758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补偿前 (v=340)</c:v>
                </c:pt>
              </c:strCache>
            </c:strRef>
          </c:tx>
          <c:spPr>
            <a:solidFill>
              <a:srgbClr val="CC4040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15.8</c:v>
                </c:pt>
                <c:pt idx="1">
                  <c:v>24.7</c:v>
                </c:pt>
                <c:pt idx="2">
                  <c:v>30.3</c:v>
                </c:pt>
                <c:pt idx="3">
                  <c:v>48.6</c:v>
                </c:pt>
                <c:pt idx="4">
                  <c:v>90.0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15.3</c:v>
                </c:pt>
                <c:pt idx="1">
                  <c:v>23.9</c:v>
                </c:pt>
                <c:pt idx="2">
                  <c:v>29.5</c:v>
                </c:pt>
                <c:pt idx="3">
                  <c:v>47.1</c:v>
                </c:pt>
                <c:pt idx="4">
                  <c:v>87.6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821-45DA-8079-40FB34A758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补偿后 (v=347)</c:v>
                </c:pt>
              </c:strCache>
            </c:strRef>
          </c:tx>
          <c:spPr>
            <a:solidFill>
              <a:srgbClr val="228040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15.8</c:v>
                </c:pt>
                <c:pt idx="1">
                  <c:v>24.7</c:v>
                </c:pt>
                <c:pt idx="2">
                  <c:v>30.3</c:v>
                </c:pt>
                <c:pt idx="3">
                  <c:v>48.6</c:v>
                </c:pt>
                <c:pt idx="4">
                  <c:v>90.0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15.9</c:v>
                </c:pt>
                <c:pt idx="1">
                  <c:v>24.6</c:v>
                </c:pt>
                <c:pt idx="2">
                  <c:v>30.3</c:v>
                </c:pt>
                <c:pt idx="3">
                  <c:v>48.4</c:v>
                </c:pt>
                <c:pt idx="4">
                  <c:v>89.7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C821-45DA-8079-40FB34A758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900"/>
                </a:pPr>
                <a:r>
                  <a:rPr lang="zh-CN" altLang="en-US"/>
                  <a:t>距离 </a:t>
                </a:r>
                <a:r>
                  <a:rPr lang="en-US" altLang="zh-CN" dirty="0"/>
                  <a:t>/ </a:t>
                </a:r>
                <a:r>
                  <a:rPr lang="en-US" dirty="0"/>
                  <a:t>cm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800"/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1164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400" b="0">
                <a:solidFill>
                  <a:srgbClr val="CCDDEE"/>
                </a:solidFill>
                <a:latin typeface="Microsoft YaHei"/>
              </a:defRPr>
            </a:pPr>
            <a:r>
              <a:rPr sz="2800" dirty="0" err="1"/>
              <a:t>基于超声波与单目视觉融合的</a:t>
            </a:r>
            <a:endParaRPr sz="2800" dirty="0"/>
          </a:p>
          <a:p>
            <a:pPr algn="l">
              <a:spcAft>
                <a:spcPts val="200"/>
              </a:spcAft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rPr sz="4000" dirty="0" err="1"/>
              <a:t>智能跟随辅助车设计与实现</a:t>
            </a:r>
            <a:endParaRPr sz="4000" dirty="0"/>
          </a:p>
        </p:txBody>
      </p:sp>
      <p:sp>
        <p:nvSpPr>
          <p:cNvPr id="6" name="Rectangle 5"/>
          <p:cNvSpPr/>
          <p:nvPr/>
        </p:nvSpPr>
        <p:spPr>
          <a:xfrm>
            <a:off x="1097280" y="3474720"/>
            <a:ext cx="1828800" cy="36576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99BBCC"/>
                </a:solidFill>
                <a:latin typeface="Microsoft YaHei"/>
              </a:defRPr>
            </a:pPr>
            <a:r>
              <a:rPr dirty="0"/>
              <a:t>Design and Implementation of Intelligent Following Assistant Vehicle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99BBCC"/>
                </a:solidFill>
                <a:latin typeface="Microsoft YaHei"/>
              </a:defRPr>
            </a:pPr>
            <a:r>
              <a:rPr dirty="0"/>
              <a:t>Based on Ultrasonic-Vision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501" y="5660380"/>
            <a:ext cx="7315200" cy="641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报  告  </a:t>
            </a:r>
            <a:r>
              <a:rPr dirty="0" err="1"/>
              <a:t>人：崔</a:t>
            </a:r>
            <a:r>
              <a:rPr dirty="0"/>
              <a:t>  振    </a:t>
            </a:r>
            <a:r>
              <a:rPr dirty="0" err="1"/>
              <a:t>李金桂</a:t>
            </a:r>
            <a:endParaRPr dirty="0"/>
          </a:p>
          <a:p>
            <a:pPr algn="r">
              <a:spcAft>
                <a:spcPts val="200"/>
              </a:spcAft>
              <a:defRPr sz="1200" b="0">
                <a:solidFill>
                  <a:srgbClr val="99AABB"/>
                </a:solidFill>
                <a:latin typeface="Microsoft YaHei"/>
              </a:defRPr>
            </a:pPr>
            <a:r>
              <a:rPr dirty="0" err="1"/>
              <a:t>电子科技大学</a:t>
            </a:r>
            <a:r>
              <a:rPr dirty="0"/>
              <a:t>  |  </a:t>
            </a:r>
            <a:r>
              <a:rPr dirty="0" err="1"/>
              <a:t>专业写作基础课程项目</a:t>
            </a:r>
            <a:r>
              <a:rPr dirty="0"/>
              <a:t>  |  2026.07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51973" y="350365"/>
            <a:ext cx="5642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1A"/>
                </a:solidFill>
                <a:latin typeface="Microsoft YaHei"/>
              </a:defRPr>
            </a:pPr>
            <a:r>
              <a:rPr sz="3600" dirty="0" err="1"/>
              <a:t>汇报提纲</a:t>
            </a:r>
            <a:endParaRPr sz="3600" dirty="0"/>
          </a:p>
        </p:txBody>
      </p:sp>
      <p:sp>
        <p:nvSpPr>
          <p:cNvPr id="5" name="Rectangle 4"/>
          <p:cNvSpPr/>
          <p:nvPr/>
        </p:nvSpPr>
        <p:spPr>
          <a:xfrm>
            <a:off x="863601" y="896113"/>
            <a:ext cx="1793874" cy="45719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502920" cy="502920"/>
          </a:xfrm>
          <a:prstGeom prst="round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研究背景与意义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691640" y="1737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 err="1"/>
              <a:t>仓储搬运痛点</a:t>
            </a:r>
            <a:r>
              <a:rPr dirty="0"/>
              <a:t> · </a:t>
            </a:r>
            <a:r>
              <a:rPr dirty="0" err="1"/>
              <a:t>AGV局限</a:t>
            </a:r>
            <a:r>
              <a:rPr dirty="0"/>
              <a:t> · </a:t>
            </a:r>
            <a:r>
              <a:rPr dirty="0" err="1"/>
              <a:t>文献综述</a:t>
            </a:r>
            <a:r>
              <a:rPr dirty="0"/>
              <a:t> · </a:t>
            </a:r>
            <a:r>
              <a:rPr dirty="0" err="1"/>
              <a:t>创新点与研究目标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1152144" y="1874520"/>
            <a:ext cx="18288" cy="73152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914400" y="2606040"/>
            <a:ext cx="502920" cy="502920"/>
          </a:xfrm>
          <a:prstGeom prst="round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26791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06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方法：系统设计与核心算法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691640" y="2971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 err="1"/>
              <a:t>三层架构</a:t>
            </a:r>
            <a:r>
              <a:rPr dirty="0"/>
              <a:t> · </a:t>
            </a:r>
            <a:r>
              <a:rPr dirty="0" err="1"/>
              <a:t>硬件选型</a:t>
            </a:r>
            <a:r>
              <a:rPr dirty="0"/>
              <a:t> · </a:t>
            </a:r>
            <a:r>
              <a:rPr dirty="0" err="1"/>
              <a:t>温度补偿</a:t>
            </a:r>
            <a:r>
              <a:rPr dirty="0"/>
              <a:t> · </a:t>
            </a:r>
            <a:r>
              <a:rPr dirty="0" err="1"/>
              <a:t>视觉检测</a:t>
            </a:r>
            <a:r>
              <a:rPr dirty="0"/>
              <a:t> · </a:t>
            </a:r>
            <a:r>
              <a:rPr dirty="0" err="1"/>
              <a:t>PID双闭环</a:t>
            </a:r>
            <a:r>
              <a:rPr dirty="0"/>
              <a:t> 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52144" y="3108960"/>
            <a:ext cx="18288" cy="73152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914400" y="3840480"/>
            <a:ext cx="502920" cy="502920"/>
          </a:xfrm>
          <a:prstGeom prst="round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914400" y="39136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840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实验结果与分析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69164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 err="1"/>
              <a:t>超声波精度对比</a:t>
            </a:r>
            <a:r>
              <a:rPr dirty="0"/>
              <a:t> · </a:t>
            </a:r>
            <a:r>
              <a:rPr dirty="0" err="1"/>
              <a:t>系统联调测试</a:t>
            </a:r>
            <a:r>
              <a:rPr dirty="0"/>
              <a:t> · </a:t>
            </a:r>
            <a:r>
              <a:rPr dirty="0" err="1"/>
              <a:t>手柄验证</a:t>
            </a:r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1152144" y="4343400"/>
            <a:ext cx="18288" cy="73152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914400" y="5074920"/>
            <a:ext cx="502920" cy="502920"/>
          </a:xfrm>
          <a:prstGeom prst="round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914400" y="5148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074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讨论与结束语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1691640" y="5440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 err="1"/>
              <a:t>集群扩展</a:t>
            </a:r>
            <a:r>
              <a:rPr dirty="0"/>
              <a:t> · </a:t>
            </a:r>
            <a:r>
              <a:rPr dirty="0" err="1"/>
              <a:t>局限性</a:t>
            </a:r>
            <a:r>
              <a:rPr dirty="0"/>
              <a:t> · </a:t>
            </a:r>
            <a:r>
              <a:rPr dirty="0" err="1"/>
              <a:t>未来展望</a:t>
            </a:r>
            <a:r>
              <a:rPr dirty="0"/>
              <a:t> · </a:t>
            </a:r>
            <a:r>
              <a:rPr dirty="0" err="1"/>
              <a:t>结论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01  </a:t>
            </a:r>
            <a:r>
              <a:rPr dirty="0" err="1"/>
              <a:t>研究背景与意义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838200" y="777239"/>
            <a:ext cx="3117850" cy="45719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669280" cy="22860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" cy="2286000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应用场景与核心痛点</a:t>
            </a:r>
            <a:endParaRPr dirty="0"/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仓储</a:t>
            </a:r>
            <a:r>
              <a:rPr dirty="0"/>
              <a:t> / </a:t>
            </a:r>
            <a:r>
              <a:rPr dirty="0" err="1"/>
              <a:t>工厂</a:t>
            </a:r>
            <a:r>
              <a:rPr dirty="0"/>
              <a:t> / </a:t>
            </a:r>
            <a:r>
              <a:rPr dirty="0" err="1"/>
              <a:t>图书馆：人员频繁往返搬运物品，体力消耗大、效率低</a:t>
            </a:r>
            <a:endParaRPr dirty="0"/>
          </a:p>
          <a:p>
            <a:pPr algn="l">
              <a:spcAft>
                <a:spcPts val="200"/>
              </a:spcAft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传统AGV：依赖磁条或二维码固定导航，部署成本高，路径灵活性不足</a:t>
            </a:r>
            <a:endParaRPr dirty="0"/>
          </a:p>
          <a:p>
            <a:pPr algn="l">
              <a:spcAft>
                <a:spcPts val="200"/>
              </a:spcAft>
              <a:defRPr sz="1400" b="1">
                <a:solidFill>
                  <a:srgbClr val="E08020"/>
                </a:solidFill>
                <a:latin typeface="Microsoft YaHei"/>
              </a:defRPr>
            </a:pPr>
            <a:r>
              <a:rPr dirty="0" err="1"/>
              <a:t>核心需求：无轨式、低成本、自适应动态环境的智能跟随方案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400800" y="1097280"/>
            <a:ext cx="5486400" cy="22860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400800" y="1097280"/>
            <a:ext cx="36576" cy="2286000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0" y="12801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关键文献基础</a:t>
            </a:r>
            <a:endParaRPr dirty="0"/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[1] </a:t>
            </a:r>
            <a:r>
              <a:rPr dirty="0" err="1"/>
              <a:t>吴绪辉等：增量式PID闭环优于开环（物理通报</a:t>
            </a:r>
            <a:r>
              <a:rPr dirty="0"/>
              <a:t>, 2019）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[2] </a:t>
            </a:r>
            <a:r>
              <a:rPr dirty="0" err="1"/>
              <a:t>Åström</a:t>
            </a:r>
            <a:r>
              <a:rPr dirty="0"/>
              <a:t> &amp; </a:t>
            </a:r>
            <a:r>
              <a:rPr dirty="0" err="1"/>
              <a:t>Hägglund：PID控制器经典专著（ISA</a:t>
            </a:r>
            <a:r>
              <a:rPr dirty="0"/>
              <a:t>, 1995）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[3] </a:t>
            </a:r>
            <a:r>
              <a:rPr dirty="0" err="1"/>
              <a:t>李碧月：舵机-电机双闭环架构（软件工程</a:t>
            </a:r>
            <a:r>
              <a:rPr dirty="0"/>
              <a:t>, 2016）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[4] </a:t>
            </a:r>
            <a:r>
              <a:rPr dirty="0" err="1"/>
              <a:t>苏松恺等：声速-温度关系</a:t>
            </a:r>
            <a:r>
              <a:rPr dirty="0"/>
              <a:t> v=331.45+0.61t（上海汽车, 2020）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[5] </a:t>
            </a:r>
            <a:r>
              <a:rPr dirty="0" err="1"/>
              <a:t>何芝强：PID参数整定方法（浙江大学</a:t>
            </a:r>
            <a:r>
              <a:rPr dirty="0"/>
              <a:t>, 2005）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3611880" cy="146304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3611880" cy="36576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FAF"/>
                </a:solidFill>
                <a:latin typeface="Microsoft YaHei"/>
              </a:defRPr>
            </a:pPr>
            <a:r>
              <a:rPr dirty="0"/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超声波+视觉双模融合</a:t>
            </a:r>
            <a:br>
              <a:rPr dirty="0"/>
            </a:br>
            <a:r>
              <a:rPr dirty="0"/>
              <a:t>+ DHT11实时温度补偿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测距误差</a:t>
            </a:r>
            <a:r>
              <a:rPr dirty="0"/>
              <a:t> ±3% → ±0.6%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657600"/>
            <a:ext cx="3611880" cy="146304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4297680" y="3657600"/>
            <a:ext cx="3611880" cy="3657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4480560" y="37947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0D0"/>
                </a:solidFill>
                <a:latin typeface="Microsoft YaHei"/>
              </a:defRPr>
            </a:pPr>
            <a:r>
              <a:rPr dirty="0"/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7490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增量式PID速度-转向</a:t>
            </a:r>
            <a:br>
              <a:rPr dirty="0"/>
            </a:br>
            <a:r>
              <a:rPr dirty="0" err="1"/>
              <a:t>双闭环控制+差速合成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493776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0D0"/>
                </a:solidFill>
                <a:latin typeface="Microsoft YaHei"/>
              </a:defRPr>
            </a:pPr>
            <a:r>
              <a:rPr dirty="0"/>
              <a:t>5项场景全达标，响应&lt;0.5s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657600"/>
            <a:ext cx="3611880" cy="146304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8138160" y="3657600"/>
            <a:ext cx="3611880" cy="36576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321040" y="37947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8020"/>
                </a:solidFill>
                <a:latin typeface="Microsoft YaHei"/>
              </a:defRPr>
            </a:pPr>
            <a:r>
              <a:rPr dirty="0"/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7490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无线手柄自动</a:t>
            </a:r>
            <a:r>
              <a:rPr dirty="0"/>
              <a:t>/</a:t>
            </a:r>
            <a:r>
              <a:rPr dirty="0" err="1"/>
              <a:t>手动</a:t>
            </a:r>
            <a:br>
              <a:rPr dirty="0"/>
            </a:br>
            <a:r>
              <a:rPr dirty="0" err="1"/>
              <a:t>双模交互+集群扩展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87782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8020"/>
                </a:solidFill>
                <a:latin typeface="Microsoft YaHei"/>
              </a:defRPr>
            </a:pPr>
            <a:r>
              <a:rPr dirty="0" err="1"/>
              <a:t>灵活人机协作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457200" y="5349240"/>
            <a:ext cx="11247120" cy="1097280"/>
          </a:xfrm>
          <a:prstGeom prst="roundRect">
            <a:avLst/>
          </a:prstGeom>
          <a:solidFill>
            <a:srgbClr val="00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914400" y="57378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研究目标：室内无轨场景下，测距误差</a:t>
            </a:r>
            <a:r>
              <a:rPr dirty="0"/>
              <a:t> ≤ ±0.6%  |  </a:t>
            </a:r>
            <a:r>
              <a:rPr dirty="0" err="1"/>
              <a:t>弯道丢失率</a:t>
            </a:r>
            <a:r>
              <a:rPr dirty="0"/>
              <a:t> ≤ 1次/圈  |  </a:t>
            </a:r>
            <a:r>
              <a:rPr dirty="0" err="1"/>
              <a:t>加减速响应</a:t>
            </a:r>
            <a:r>
              <a:rPr dirty="0"/>
              <a:t> &lt; 0.5s  |  </a:t>
            </a:r>
            <a:r>
              <a:rPr dirty="0" err="1"/>
              <a:t>硬件成本</a:t>
            </a:r>
            <a:r>
              <a:rPr dirty="0"/>
              <a:t> &lt; ¥1,000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02  </a:t>
            </a:r>
            <a:r>
              <a:rPr dirty="0" err="1"/>
              <a:t>方法：系统总体架构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822960" y="777239"/>
            <a:ext cx="3815214" cy="45719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7498079" cy="822960"/>
          </a:xfrm>
          <a:prstGeom prst="round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感知层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EF4FF"/>
                </a:solidFill>
                <a:latin typeface="Microsoft YaHei"/>
              </a:defRPr>
            </a:pPr>
            <a:r>
              <a:rPr dirty="0" err="1"/>
              <a:t>CSI摄像头</a:t>
            </a:r>
            <a:r>
              <a:rPr dirty="0"/>
              <a:t>  |  HC-SR04超声波  |  DHT11温度  |  </a:t>
            </a:r>
            <a:r>
              <a:rPr dirty="0" err="1"/>
              <a:t>无线手柄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3840480" y="19659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7498079" cy="822960"/>
          </a:xfrm>
          <a:prstGeom prst="round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决策层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EF4FF"/>
                </a:solidFill>
                <a:latin typeface="Microsoft YaHei"/>
              </a:defRPr>
            </a:pPr>
            <a:r>
              <a:rPr dirty="0"/>
              <a:t>Raspberry Pi 4B · </a:t>
            </a:r>
            <a:r>
              <a:rPr dirty="0" err="1"/>
              <a:t>四线程并发</a:t>
            </a:r>
            <a:r>
              <a:rPr dirty="0"/>
              <a:t>(</a:t>
            </a:r>
            <a:r>
              <a:rPr dirty="0" err="1"/>
              <a:t>状态机+视觉+传感+PID</a:t>
            </a:r>
            <a:r>
              <a:rPr dirty="0"/>
              <a:t>) · Python/OpenCV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9718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7498079" cy="822960"/>
          </a:xfrm>
          <a:prstGeom prst="round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82296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执行层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22960" y="36576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EF4FF"/>
                </a:solidFill>
                <a:latin typeface="Microsoft YaHei"/>
              </a:defRPr>
            </a:pPr>
            <a:r>
              <a:rPr dirty="0"/>
              <a:t>TB6612驱动 · 4×直流电机 · </a:t>
            </a:r>
            <a:r>
              <a:rPr dirty="0" err="1"/>
              <a:t>四轮差速底盘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229600" y="1188720"/>
            <a:ext cx="3657600" cy="27432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503920" y="137160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四线程并发</a:t>
            </a:r>
            <a:endParaRPr dirty="0"/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🧵 </a:t>
            </a:r>
            <a:r>
              <a:rPr dirty="0" err="1"/>
              <a:t>主状态机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 </a:t>
            </a:r>
            <a:r>
              <a:rPr dirty="0" err="1"/>
              <a:t>初始化→跟随→避障→搜索→手动→急停</a:t>
            </a:r>
            <a:endParaRPr dirty="0"/>
          </a:p>
          <a:p>
            <a:pPr algn="l">
              <a:spcAft>
                <a:spcPts val="2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👁️ </a:t>
            </a:r>
            <a:r>
              <a:rPr dirty="0" err="1"/>
              <a:t>视觉处理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 30fps · BGR→HSV · </a:t>
            </a:r>
            <a:r>
              <a:rPr dirty="0" err="1"/>
              <a:t>绿色检测</a:t>
            </a:r>
            <a:r>
              <a:rPr dirty="0"/>
              <a:t> → cx, area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📡 </a:t>
            </a:r>
            <a:r>
              <a:rPr dirty="0" err="1"/>
              <a:t>传感器采集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 20Hz · </a:t>
            </a:r>
            <a:r>
              <a:rPr dirty="0" err="1"/>
              <a:t>超声波+温度</a:t>
            </a:r>
            <a:r>
              <a:rPr dirty="0"/>
              <a:t> · </a:t>
            </a:r>
            <a:r>
              <a:rPr dirty="0" err="1"/>
              <a:t>中位值滤波</a:t>
            </a:r>
            <a:r>
              <a:rPr dirty="0"/>
              <a:t>(5取3)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⚙️ </a:t>
            </a:r>
            <a:r>
              <a:rPr dirty="0" err="1"/>
              <a:t>PID控制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 20Hz · </a:t>
            </a:r>
            <a:r>
              <a:rPr dirty="0" err="1"/>
              <a:t>增量式PID</a:t>
            </a:r>
            <a:r>
              <a:rPr dirty="0"/>
              <a:t> · </a:t>
            </a:r>
            <a:r>
              <a:rPr dirty="0" err="1"/>
              <a:t>PWM输出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427029" y="4098033"/>
            <a:ext cx="74980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FAF"/>
                </a:solidFill>
                <a:latin typeface="Microsoft YaHei"/>
              </a:defRPr>
            </a:pPr>
            <a:r>
              <a:rPr sz="1100" dirty="0" err="1"/>
              <a:t>功能模块划分</a:t>
            </a:r>
            <a:endParaRPr sz="1100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353001"/>
              </p:ext>
            </p:extLst>
          </p:nvPr>
        </p:nvGraphicFramePr>
        <p:xfrm>
          <a:off x="427029" y="4393932"/>
          <a:ext cx="7498076" cy="1791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72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模块</a:t>
                      </a:r>
                      <a:endParaRPr dirty="0"/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子功能</a:t>
                      </a:r>
                      <a:endParaRPr dirty="0"/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核心组件</a:t>
                      </a:r>
                      <a:endParaRPr dirty="0"/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/>
                        <a:t>关键参数</a:t>
                      </a:r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93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感知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测距·目标检测·丢失重检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CSI摄像头·HC-SR04·DHT11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2~300cm,320×240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93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运动控制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PWM调速·PID闭环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直流电机(编码器)·TB6612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0~100%PWM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93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核心处理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数据融合·逻辑决策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Raspberry Pi 4B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1.5GHz四核,1GB RAM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93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人机交互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手动操控·模式切换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北通鲲鹏20无线手柄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摇杆0~255,±30死区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29600" y="3931920"/>
            <a:ext cx="3657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FAF"/>
                </a:solidFill>
                <a:latin typeface="Microsoft YaHei"/>
              </a:defRPr>
            </a:pPr>
            <a:r>
              <a:rPr dirty="0"/>
              <a:t>GPIO引脚分配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953217"/>
              </p:ext>
            </p:extLst>
          </p:nvPr>
        </p:nvGraphicFramePr>
        <p:xfrm>
          <a:off x="8229600" y="4206240"/>
          <a:ext cx="36576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/>
                        <a:t>外设</a:t>
                      </a:r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/>
                        <a:t>GPIO</a:t>
                      </a:r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/>
                        <a:t>接口</a:t>
                      </a:r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摄像头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专用CSI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CSI-2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超声波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26/13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数字I/O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左电机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22/27,18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PWM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右电机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25/24,23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PWM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DHT11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GPIO4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单总线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手柄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USB 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USB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3</a:t>
            </a:r>
            <a:r>
              <a:rPr dirty="0"/>
              <a:t>  方法：超声波测距与温度补偿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777239"/>
            <a:ext cx="5257800" cy="45719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669280" cy="246888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100713"/>
            <a:ext cx="484632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/>
              <a:t>TOF测距与温度补偿</a:t>
            </a:r>
          </a:p>
          <a:p>
            <a:pPr algn="l">
              <a:spcAft>
                <a:spcPts val="200"/>
              </a:spcAft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S = v · T / 2 </a:t>
            </a:r>
            <a:endParaRPr lang="en-US" dirty="0"/>
          </a:p>
          <a:p>
            <a:pPr algn="l">
              <a:spcAft>
                <a:spcPts val="200"/>
              </a:spcAft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S: 距离(cm)  |  v: 声速(cm/s) </a:t>
            </a:r>
            <a:endParaRPr lang="en-US" dirty="0"/>
          </a:p>
          <a:p>
            <a:pPr algn="l">
              <a:spcAft>
                <a:spcPts val="200"/>
              </a:spcAft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 | T: Echo高电平时间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v = 331.45 + 0.61 · t </a:t>
            </a:r>
            <a:endParaRPr lang="en-US" dirty="0"/>
          </a:p>
          <a:p>
            <a:pPr algn="l">
              <a:spcAft>
                <a:spcPts val="200"/>
              </a:spcAft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v: 声速(m/s)  |  t: 摄氏温度(°C)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DHT11 以1Hz实时更新温度 → 修正声速参数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中位值平均滤波 </a:t>
            </a:r>
            <a:r>
              <a:rPr lang="en-US" dirty="0"/>
              <a:t>    </a:t>
            </a:r>
            <a:r>
              <a:rPr dirty="0"/>
              <a:t>抑制采样噪声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486400" cy="246888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858000" y="128016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/>
              <a:t>三级判断跟随策略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500" b="1">
                <a:solidFill>
                  <a:srgbClr val="CC4040"/>
                </a:solidFill>
                <a:latin typeface="Microsoft YaHei"/>
              </a:defRPr>
            </a:pPr>
            <a:r>
              <a:rPr dirty="0"/>
              <a:t>Ⅰ  d &gt; 100cm  →  目标丢失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 ±45°摇摆搜索 · 最长6s · 重捕获/超时待命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500" b="1">
                <a:solidFill>
                  <a:srgbClr val="005FAF"/>
                </a:solidFill>
                <a:latin typeface="Microsoft YaHei"/>
              </a:defRPr>
            </a:pPr>
            <a:r>
              <a:rPr dirty="0"/>
              <a:t>Ⅱ  5 ≤ d ≤ 100cm  →  正常跟随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 </a:t>
            </a:r>
            <a:r>
              <a:rPr dirty="0" err="1"/>
              <a:t>PID闭环</a:t>
            </a:r>
            <a:r>
              <a:rPr dirty="0"/>
              <a:t> · </a:t>
            </a:r>
            <a:r>
              <a:rPr dirty="0" err="1"/>
              <a:t>期望距离</a:t>
            </a:r>
            <a:r>
              <a:rPr dirty="0"/>
              <a:t> = 10cm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500" b="1">
                <a:solidFill>
                  <a:srgbClr val="CC4040"/>
                </a:solidFill>
                <a:latin typeface="Microsoft YaHei"/>
              </a:defRPr>
            </a:pPr>
            <a:r>
              <a:rPr dirty="0"/>
              <a:t>Ⅲ  d &lt; 5cm  →  </a:t>
            </a:r>
            <a:r>
              <a:rPr dirty="0" err="1"/>
              <a:t>碰撞风险</a:t>
            </a:r>
            <a:r>
              <a:rPr dirty="0"/>
              <a:t>！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 紧急后退0.7s(速度20) · </a:t>
            </a:r>
            <a:r>
              <a:rPr dirty="0" err="1"/>
              <a:t>安全优先</a:t>
            </a:r>
            <a:r>
              <a:rPr dirty="0"/>
              <a:t>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94760"/>
            <a:ext cx="11247120" cy="26517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10332720" cy="1982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/>
              <a:t>温度补偿效果：精度提升近10倍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400" b="1">
                <a:solidFill>
                  <a:srgbClr val="CC4040"/>
                </a:solidFill>
                <a:latin typeface="Microsoft YaHei"/>
              </a:defRPr>
            </a:pPr>
            <a:r>
              <a:rPr sz="1600" dirty="0" err="1"/>
              <a:t>补偿前</a:t>
            </a:r>
            <a:r>
              <a:rPr sz="1600" dirty="0"/>
              <a:t> (v=340 m/s)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1200" dirty="0"/>
              <a:t>  5组误差: −3.1% ~ −2.6%  </a:t>
            </a:r>
            <a:r>
              <a:rPr sz="1200" dirty="0" err="1"/>
              <a:t>全部为负</a:t>
            </a:r>
            <a:r>
              <a:rPr sz="1200" dirty="0"/>
              <a:t> · </a:t>
            </a:r>
            <a:r>
              <a:rPr sz="1200" dirty="0" err="1"/>
              <a:t>方向一致</a:t>
            </a:r>
            <a:r>
              <a:rPr sz="1200" dirty="0"/>
              <a:t> · </a:t>
            </a:r>
            <a:r>
              <a:rPr sz="1200" dirty="0" err="1"/>
              <a:t>排除随机噪声</a:t>
            </a:r>
            <a:r>
              <a:rPr sz="1200" dirty="0"/>
              <a:t> → </a:t>
            </a:r>
            <a:r>
              <a:rPr sz="1200" dirty="0" err="1"/>
              <a:t>确认为声速参数的系统性偏差</a:t>
            </a:r>
            <a:endParaRPr sz="1200" dirty="0"/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sz="1050" dirty="0"/>
              <a:t>  根因：25.7°C时实际声速≈347m/s · 程序使用340m/s → 低估约2% → </a:t>
            </a:r>
            <a:r>
              <a:rPr sz="1050" dirty="0" err="1"/>
              <a:t>TOF公式中v与S成正比</a:t>
            </a:r>
            <a:r>
              <a:rPr sz="1050" dirty="0"/>
              <a:t> → </a:t>
            </a:r>
            <a:r>
              <a:rPr sz="1050" dirty="0" err="1"/>
              <a:t>距离系统性偏小</a:t>
            </a:r>
            <a:endParaRPr sz="1050" dirty="0"/>
          </a:p>
          <a:p>
            <a:pPr algn="l">
              <a:spcAft>
                <a:spcPts val="200"/>
              </a:spcAft>
              <a:defRPr sz="400" b="0">
                <a:solidFill>
                  <a:srgbClr val="1A1A1A"/>
                </a:solidFill>
                <a:latin typeface="Microsoft YaHei"/>
              </a:defRPr>
            </a:pPr>
            <a:endParaRPr sz="500" dirty="0"/>
          </a:p>
          <a:p>
            <a:pPr algn="l">
              <a:spcAft>
                <a:spcPts val="200"/>
              </a:spcAft>
              <a:defRPr sz="1400" b="1">
                <a:solidFill>
                  <a:srgbClr val="228040"/>
                </a:solidFill>
                <a:latin typeface="Microsoft YaHei"/>
              </a:defRPr>
            </a:pPr>
            <a:r>
              <a:rPr sz="1600" dirty="0" err="1"/>
              <a:t>补偿后</a:t>
            </a:r>
            <a:r>
              <a:rPr sz="1600" dirty="0"/>
              <a:t> (v=347 m/s)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1200" dirty="0"/>
              <a:t>  5组误差: −0.4% ~ +0.6%  </a:t>
            </a:r>
            <a:r>
              <a:rPr sz="1200" dirty="0" err="1"/>
              <a:t>平均绝对值</a:t>
            </a:r>
            <a:r>
              <a:rPr sz="1200" dirty="0"/>
              <a:t> 0.34%  ·  </a:t>
            </a:r>
            <a:r>
              <a:rPr sz="1200" dirty="0" err="1"/>
              <a:t>误差正负交替</a:t>
            </a:r>
            <a:r>
              <a:rPr sz="1200" dirty="0"/>
              <a:t> → </a:t>
            </a:r>
            <a:r>
              <a:rPr sz="1200" dirty="0" err="1"/>
              <a:t>系统性偏差已被消除</a:t>
            </a:r>
            <a:endParaRPr sz="1200" dirty="0"/>
          </a:p>
          <a:p>
            <a:pPr algn="l">
              <a:spcAft>
                <a:spcPts val="200"/>
              </a:spcAft>
              <a:defRPr sz="1200" b="1">
                <a:solidFill>
                  <a:srgbClr val="E08020"/>
                </a:solidFill>
                <a:latin typeface="Microsoft YaHei"/>
              </a:defRPr>
            </a:pPr>
            <a:r>
              <a:rPr sz="1400" dirty="0"/>
              <a:t>  DHT11硬件成本 &lt; ¥5  →  测距精度提升约10倍  →  远超设计指标±2%  →  </a:t>
            </a:r>
            <a:r>
              <a:rPr sz="1400" dirty="0" err="1"/>
              <a:t>极高工程性价比</a:t>
            </a:r>
            <a:endParaRPr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4</a:t>
            </a:r>
            <a:r>
              <a:rPr dirty="0"/>
              <a:t>  </a:t>
            </a:r>
            <a:r>
              <a:rPr dirty="0" err="1"/>
              <a:t>方法：PID双闭环控制</a:t>
            </a:r>
            <a:r>
              <a:rPr dirty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667" y="777238"/>
            <a:ext cx="4074249" cy="45719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13716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PID控制理论基础</a:t>
            </a:r>
            <a:endParaRPr dirty="0"/>
          </a:p>
          <a:p>
            <a:pPr algn="l">
              <a:spcAft>
                <a:spcPts val="2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连续PID</a:t>
            </a:r>
            <a:r>
              <a:rPr dirty="0"/>
              <a:t>:  u(t) = </a:t>
            </a:r>
            <a:r>
              <a:rPr dirty="0" err="1"/>
              <a:t>Kp</a:t>
            </a:r>
            <a:r>
              <a:rPr dirty="0"/>
              <a:t>[ e(t) + (1/</a:t>
            </a:r>
            <a:r>
              <a:rPr dirty="0" err="1"/>
              <a:t>Ti</a:t>
            </a:r>
            <a:r>
              <a:rPr dirty="0"/>
              <a:t>)∫₀ᵗe(τ)</a:t>
            </a:r>
            <a:r>
              <a:rPr dirty="0" err="1"/>
              <a:t>dτ</a:t>
            </a:r>
            <a:r>
              <a:rPr dirty="0"/>
              <a:t> + </a:t>
            </a:r>
            <a:r>
              <a:rPr dirty="0" err="1"/>
              <a:t>Td·de</a:t>
            </a:r>
            <a:r>
              <a:rPr dirty="0"/>
              <a:t>(t)/dt ]   …(4)       </a:t>
            </a:r>
            <a:r>
              <a:rPr dirty="0" err="1"/>
              <a:t>增量式</a:t>
            </a:r>
            <a:r>
              <a:rPr dirty="0"/>
              <a:t>:  </a:t>
            </a:r>
            <a:r>
              <a:rPr dirty="0" err="1"/>
              <a:t>Δu</a:t>
            </a:r>
            <a:r>
              <a:rPr dirty="0"/>
              <a:t>(k) = </a:t>
            </a:r>
            <a:r>
              <a:rPr dirty="0" err="1"/>
              <a:t>Kp</a:t>
            </a:r>
            <a:r>
              <a:rPr dirty="0"/>
              <a:t>[e(k)−e(k−1)] + </a:t>
            </a:r>
            <a:r>
              <a:rPr dirty="0" err="1"/>
              <a:t>Ki·e</a:t>
            </a:r>
            <a:r>
              <a:rPr dirty="0"/>
              <a:t>(k) + </a:t>
            </a:r>
            <a:r>
              <a:rPr dirty="0" err="1"/>
              <a:t>Kd</a:t>
            </a:r>
            <a:r>
              <a:rPr dirty="0"/>
              <a:t>[e(k)−2e(k−1)+e(k−2)]   …(5)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P(</a:t>
            </a:r>
            <a:r>
              <a:rPr dirty="0" err="1"/>
              <a:t>比例</a:t>
            </a:r>
            <a:r>
              <a:rPr dirty="0"/>
              <a:t>): </a:t>
            </a:r>
            <a:r>
              <a:rPr dirty="0" err="1"/>
              <a:t>瞬时校正</a:t>
            </a:r>
            <a:r>
              <a:rPr dirty="0"/>
              <a:t> · </a:t>
            </a:r>
            <a:r>
              <a:rPr dirty="0" err="1"/>
              <a:t>Kp↑快→振荡</a:t>
            </a:r>
            <a:r>
              <a:rPr dirty="0"/>
              <a:t>    |    I(</a:t>
            </a:r>
            <a:r>
              <a:rPr dirty="0" err="1"/>
              <a:t>积分</a:t>
            </a:r>
            <a:r>
              <a:rPr dirty="0"/>
              <a:t>): </a:t>
            </a:r>
            <a:r>
              <a:rPr dirty="0" err="1"/>
              <a:t>消除稳态误差</a:t>
            </a:r>
            <a:r>
              <a:rPr dirty="0"/>
              <a:t> · </a:t>
            </a:r>
            <a:r>
              <a:rPr dirty="0" err="1"/>
              <a:t>Ti↑慢→稳</a:t>
            </a:r>
            <a:r>
              <a:rPr dirty="0"/>
              <a:t>    |    D(</a:t>
            </a:r>
            <a:r>
              <a:rPr dirty="0" err="1"/>
              <a:t>微分</a:t>
            </a:r>
            <a:r>
              <a:rPr dirty="0"/>
              <a:t>): </a:t>
            </a:r>
            <a:r>
              <a:rPr dirty="0" err="1"/>
              <a:t>预判趋势</a:t>
            </a:r>
            <a:r>
              <a:rPr dirty="0"/>
              <a:t> · </a:t>
            </a:r>
            <a:r>
              <a:rPr dirty="0" err="1"/>
              <a:t>Td↑抑制超调</a:t>
            </a:r>
            <a:r>
              <a:rPr dirty="0"/>
              <a:t>    |    </a:t>
            </a:r>
            <a:r>
              <a:rPr dirty="0" err="1"/>
              <a:t>增量式</a:t>
            </a:r>
            <a:r>
              <a:rPr dirty="0"/>
              <a:t>: 仅需3次偏差 · </a:t>
            </a:r>
            <a:r>
              <a:rPr dirty="0" err="1"/>
              <a:t>无积分饱和</a:t>
            </a:r>
            <a:r>
              <a:rPr dirty="0"/>
              <a:t> · </a:t>
            </a:r>
            <a:r>
              <a:rPr dirty="0" err="1"/>
              <a:t>切换无扰</a:t>
            </a:r>
            <a:r>
              <a:rPr dirty="0"/>
              <a:t> [3]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5669280" cy="2194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双闭环架构</a:t>
            </a:r>
            <a:endParaRPr dirty="0"/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速度闭环（距离环</a:t>
            </a:r>
            <a:r>
              <a:rPr dirty="0"/>
              <a:t>）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输入</a:t>
            </a:r>
            <a:r>
              <a:rPr dirty="0"/>
              <a:t>: </a:t>
            </a:r>
            <a:r>
              <a:rPr dirty="0" err="1"/>
              <a:t>距离误差</a:t>
            </a:r>
            <a:r>
              <a:rPr dirty="0"/>
              <a:t> → </a:t>
            </a:r>
            <a:r>
              <a:rPr dirty="0" err="1"/>
              <a:t>输出</a:t>
            </a:r>
            <a:r>
              <a:rPr dirty="0"/>
              <a:t>: </a:t>
            </a:r>
            <a:r>
              <a:rPr dirty="0" err="1"/>
              <a:t>基础速度</a:t>
            </a:r>
            <a:r>
              <a:rPr dirty="0"/>
              <a:t> speed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 (</a:t>
            </a:r>
            <a:r>
              <a:rPr dirty="0" err="1"/>
              <a:t>超声</a:t>
            </a:r>
            <a:r>
              <a:rPr dirty="0"/>
              <a:t>: 实际−10cm / </a:t>
            </a:r>
            <a:r>
              <a:rPr dirty="0" err="1"/>
              <a:t>视觉</a:t>
            </a:r>
            <a:r>
              <a:rPr dirty="0"/>
              <a:t>: </a:t>
            </a:r>
            <a:r>
              <a:rPr dirty="0" err="1"/>
              <a:t>期望面积−当前</a:t>
            </a:r>
            <a:r>
              <a:rPr dirty="0"/>
              <a:t>)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转向闭环（偏航环</a:t>
            </a:r>
            <a:r>
              <a:rPr dirty="0"/>
              <a:t>）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输入</a:t>
            </a:r>
            <a:r>
              <a:rPr dirty="0"/>
              <a:t>: </a:t>
            </a:r>
            <a:r>
              <a:rPr dirty="0" err="1"/>
              <a:t>目标水平偏移</a:t>
            </a:r>
            <a:r>
              <a:rPr dirty="0"/>
              <a:t> cx−160 → </a:t>
            </a:r>
            <a:r>
              <a:rPr dirty="0" err="1"/>
              <a:t>输出</a:t>
            </a:r>
            <a:r>
              <a:rPr dirty="0"/>
              <a:t>: steer (×0.6)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100" b="1">
                <a:solidFill>
                  <a:srgbClr val="E08020"/>
                </a:solidFill>
                <a:latin typeface="Microsoft YaHei"/>
              </a:defRPr>
            </a:pPr>
            <a:r>
              <a:rPr dirty="0" err="1"/>
              <a:t>参数整定</a:t>
            </a:r>
            <a:r>
              <a:rPr dirty="0"/>
              <a:t> [5]: 先P至临界→Kp×0.6~0.7→+</a:t>
            </a:r>
            <a:r>
              <a:rPr dirty="0" err="1"/>
              <a:t>Ki消静差</a:t>
            </a:r>
            <a:r>
              <a:rPr dirty="0"/>
              <a:t>→+</a:t>
            </a:r>
            <a:r>
              <a:rPr dirty="0" err="1"/>
              <a:t>Kd抑超调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400800" y="2651760"/>
            <a:ext cx="5303520" cy="21945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858000" y="2834640"/>
            <a:ext cx="4572000" cy="160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差速合成与闭环优势</a:t>
            </a:r>
            <a:endParaRPr dirty="0"/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22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vL</a:t>
            </a:r>
            <a:r>
              <a:rPr dirty="0"/>
              <a:t> = speed + steer</a:t>
            </a:r>
          </a:p>
          <a:p>
            <a:pPr algn="l">
              <a:spcAft>
                <a:spcPts val="200"/>
              </a:spcAft>
              <a:defRPr sz="22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vR</a:t>
            </a:r>
            <a:r>
              <a:rPr dirty="0"/>
              <a:t> = speed − steer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steer=0→直行 | steer&gt;0(</a:t>
            </a:r>
            <a:r>
              <a:rPr dirty="0" err="1"/>
              <a:t>偏右</a:t>
            </a:r>
            <a:r>
              <a:rPr dirty="0"/>
              <a:t>)→</a:t>
            </a:r>
            <a:r>
              <a:rPr dirty="0" err="1"/>
              <a:t>右转</a:t>
            </a:r>
            <a:r>
              <a:rPr dirty="0"/>
              <a:t> | steer&lt;0→左转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 err="1"/>
              <a:t>后退时转向逻辑自动取反</a:t>
            </a:r>
            <a:r>
              <a:rPr dirty="0"/>
              <a:t> → </a:t>
            </a:r>
            <a:r>
              <a:rPr dirty="0" err="1"/>
              <a:t>操控直觉一致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457200" y="5029200"/>
            <a:ext cx="11247120" cy="146304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闭环</a:t>
            </a:r>
            <a:r>
              <a:rPr dirty="0"/>
              <a:t> vs </a:t>
            </a:r>
            <a:r>
              <a:rPr dirty="0" err="1"/>
              <a:t>开环</a:t>
            </a:r>
            <a:endParaRPr lang="en-US"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endParaRPr lang="en-US"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闭环控制：速度响应快</a:t>
            </a:r>
            <a:r>
              <a:rPr dirty="0"/>
              <a:t> · </a:t>
            </a:r>
            <a:r>
              <a:rPr dirty="0" err="1"/>
              <a:t>超调小</a:t>
            </a:r>
            <a:r>
              <a:rPr dirty="0"/>
              <a:t> · </a:t>
            </a:r>
            <a:r>
              <a:rPr dirty="0" err="1"/>
              <a:t>稳态精度高</a:t>
            </a:r>
            <a:r>
              <a:rPr dirty="0"/>
              <a:t> · </a:t>
            </a:r>
            <a:r>
              <a:rPr dirty="0" err="1"/>
              <a:t>电池电压变化时转速一致</a:t>
            </a:r>
            <a:r>
              <a:rPr dirty="0"/>
              <a:t> · </a:t>
            </a:r>
            <a:r>
              <a:rPr dirty="0" err="1"/>
              <a:t>误差反馈</a:t>
            </a:r>
            <a:r>
              <a:rPr dirty="0"/>
              <a:t> → </a:t>
            </a:r>
            <a:r>
              <a:rPr dirty="0" err="1"/>
              <a:t>克服参数分散性和外部扰动</a:t>
            </a:r>
            <a:r>
              <a:rPr dirty="0"/>
              <a:t> → </a:t>
            </a:r>
            <a:r>
              <a:rPr dirty="0" err="1"/>
              <a:t>自主调节</a:t>
            </a:r>
            <a:endParaRPr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开环控制：无法达目标速度</a:t>
            </a:r>
            <a:r>
              <a:rPr dirty="0"/>
              <a:t> · </a:t>
            </a:r>
            <a:r>
              <a:rPr dirty="0" err="1"/>
              <a:t>同PWM不同转速</a:t>
            </a:r>
            <a:r>
              <a:rPr dirty="0"/>
              <a:t> · </a:t>
            </a:r>
            <a:r>
              <a:rPr dirty="0" err="1"/>
              <a:t>缺少反馈</a:t>
            </a:r>
            <a:r>
              <a:rPr dirty="0"/>
              <a:t> → </a:t>
            </a:r>
            <a:r>
              <a:rPr dirty="0" err="1"/>
              <a:t>参数失配</a:t>
            </a:r>
            <a:r>
              <a:rPr dirty="0"/>
              <a:t> → "</a:t>
            </a:r>
            <a:r>
              <a:rPr dirty="0" err="1"/>
              <a:t>失步</a:t>
            </a:r>
            <a:r>
              <a:rPr dirty="0"/>
              <a:t>""</a:t>
            </a:r>
            <a:r>
              <a:rPr dirty="0" err="1"/>
              <a:t>过冲</a:t>
            </a:r>
            <a:r>
              <a:rPr dirty="0"/>
              <a:t>" → </a:t>
            </a:r>
            <a:r>
              <a:rPr dirty="0" err="1"/>
              <a:t>永久性误差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5</a:t>
            </a:r>
            <a:r>
              <a:rPr dirty="0"/>
              <a:t>  </a:t>
            </a:r>
            <a:r>
              <a:rPr dirty="0" err="1"/>
              <a:t>方法：单目视觉检测与人机交互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850900" y="777239"/>
            <a:ext cx="5568950" cy="45719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7315200" cy="25603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50900" y="1162635"/>
            <a:ext cx="6400800" cy="2303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单目视觉目标检测流程</a:t>
            </a:r>
            <a:endParaRPr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endParaRPr lang="en-US"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1200" dirty="0"/>
              <a:t>① BGR→HSV </a:t>
            </a:r>
            <a:r>
              <a:rPr sz="1200" dirty="0" err="1"/>
              <a:t>色彩空间转换</a:t>
            </a:r>
            <a:r>
              <a:rPr sz="1200" dirty="0"/>
              <a:t> — </a:t>
            </a:r>
            <a:r>
              <a:rPr sz="1200" dirty="0" err="1"/>
              <a:t>色调</a:t>
            </a:r>
            <a:r>
              <a:rPr sz="1200" dirty="0"/>
              <a:t>(H)</a:t>
            </a:r>
            <a:r>
              <a:rPr sz="1200" dirty="0" err="1"/>
              <a:t>与明度</a:t>
            </a:r>
            <a:r>
              <a:rPr sz="1200" dirty="0"/>
              <a:t>(V)</a:t>
            </a:r>
            <a:r>
              <a:rPr sz="1200" dirty="0" err="1"/>
              <a:t>解耦，光照鲁棒性优于RGB</a:t>
            </a:r>
            <a:endParaRPr sz="1200"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1200" dirty="0"/>
              <a:t>② </a:t>
            </a:r>
            <a:r>
              <a:rPr sz="1200" dirty="0" err="1"/>
              <a:t>绿色阈值二值化</a:t>
            </a:r>
            <a:r>
              <a:rPr sz="1200" dirty="0"/>
              <a:t> — H:35~85 · S:80~255 · V:80~255 → </a:t>
            </a:r>
            <a:r>
              <a:rPr sz="1200" dirty="0" err="1"/>
              <a:t>掩膜提取</a:t>
            </a:r>
            <a:endParaRPr sz="1200"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1200" dirty="0"/>
              <a:t>③ 3×3形态学开运算 — </a:t>
            </a:r>
            <a:r>
              <a:rPr sz="1200" dirty="0" err="1"/>
              <a:t>先腐蚀后膨胀</a:t>
            </a:r>
            <a:r>
              <a:rPr sz="1200" dirty="0"/>
              <a:t> → </a:t>
            </a:r>
            <a:r>
              <a:rPr sz="1200" dirty="0" err="1"/>
              <a:t>去除孤立噪点</a:t>
            </a:r>
            <a:endParaRPr sz="1200"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1200" dirty="0"/>
              <a:t>④ </a:t>
            </a:r>
            <a:r>
              <a:rPr sz="1200" dirty="0" err="1"/>
              <a:t>最大轮廓筛选</a:t>
            </a:r>
            <a:r>
              <a:rPr sz="1200" dirty="0"/>
              <a:t> — </a:t>
            </a:r>
            <a:r>
              <a:rPr sz="1200" dirty="0" err="1"/>
              <a:t>面积</a:t>
            </a:r>
            <a:r>
              <a:rPr sz="1200" dirty="0"/>
              <a:t>&lt;400px² → </a:t>
            </a:r>
            <a:r>
              <a:rPr sz="1200" dirty="0" err="1"/>
              <a:t>判为噪声</a:t>
            </a:r>
            <a:r>
              <a:rPr sz="1200" dirty="0"/>
              <a:t> → </a:t>
            </a:r>
            <a:r>
              <a:rPr sz="1200" dirty="0" err="1"/>
              <a:t>避免误跟踪</a:t>
            </a:r>
            <a:endParaRPr sz="1200"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1200" dirty="0"/>
              <a:t>⑤ </a:t>
            </a:r>
            <a:r>
              <a:rPr sz="1200" dirty="0" err="1"/>
              <a:t>外接矩形特征提取</a:t>
            </a:r>
            <a:r>
              <a:rPr sz="1200" dirty="0"/>
              <a:t> — cx(</a:t>
            </a:r>
            <a:r>
              <a:rPr sz="1200" dirty="0" err="1"/>
              <a:t>转向控制</a:t>
            </a:r>
            <a:r>
              <a:rPr sz="1200" dirty="0"/>
              <a:t>) + area(</a:t>
            </a:r>
            <a:r>
              <a:rPr sz="1200" dirty="0" err="1"/>
              <a:t>距离控制</a:t>
            </a:r>
            <a:r>
              <a:rPr sz="1200" dirty="0"/>
              <a:t>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1200" dirty="0"/>
              <a:t>⑥ </a:t>
            </a:r>
            <a:r>
              <a:rPr sz="1200" dirty="0" err="1"/>
              <a:t>一阶低通滤波</a:t>
            </a:r>
            <a:r>
              <a:rPr sz="1200" dirty="0"/>
              <a:t> — </a:t>
            </a:r>
            <a:r>
              <a:rPr sz="1200" dirty="0" err="1"/>
              <a:t>v_filtered</a:t>
            </a:r>
            <a:r>
              <a:rPr sz="1200" dirty="0"/>
              <a:t> = 0.7·v_last + 0.3·v_current  …(3)</a:t>
            </a:r>
          </a:p>
          <a:p>
            <a:pPr algn="l">
              <a:spcAft>
                <a:spcPts val="200"/>
              </a:spcAft>
              <a:defRPr sz="4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100" b="1">
                <a:solidFill>
                  <a:srgbClr val="005FAF"/>
                </a:solidFill>
                <a:latin typeface="Microsoft YaHei"/>
              </a:defRPr>
            </a:pPr>
            <a:r>
              <a:rPr dirty="0"/>
              <a:t>距离控制：目标30000px² · ±300死区防抖    |    转向控制：cx−160→PID→差速   </a:t>
            </a:r>
            <a:endParaRPr lang="en-US" dirty="0"/>
          </a:p>
          <a:p>
            <a:pPr algn="l">
              <a:spcAft>
                <a:spcPts val="200"/>
              </a:spcAft>
              <a:defRPr sz="1100" b="1">
                <a:solidFill>
                  <a:srgbClr val="005FAF"/>
                </a:solidFill>
                <a:latin typeface="Microsoft YaHei"/>
              </a:defRPr>
            </a:pPr>
            <a:r>
              <a:rPr lang="en-US" dirty="0"/>
              <a:t>               </a:t>
            </a:r>
            <a:r>
              <a:rPr dirty="0"/>
              <a:t> </a:t>
            </a:r>
            <a:r>
              <a:rPr lang="en-US" dirty="0"/>
              <a:t> </a:t>
            </a:r>
            <a:r>
              <a:rPr dirty="0" err="1"/>
              <a:t>丢失：低速右转搜索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657600" cy="25603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322310" y="1126724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避障与HMI</a:t>
            </a:r>
            <a:endParaRPr dirty="0"/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500" b="1">
                <a:solidFill>
                  <a:srgbClr val="E08020"/>
                </a:solidFill>
                <a:latin typeface="Microsoft YaHei"/>
              </a:defRPr>
            </a:pPr>
            <a:r>
              <a:rPr dirty="0" err="1"/>
              <a:t>避障优先级</a:t>
            </a:r>
            <a:r>
              <a:rPr dirty="0"/>
              <a:t>：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超声</a:t>
            </a:r>
            <a:r>
              <a:rPr dirty="0"/>
              <a:t>&lt;30cm→强制覆盖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  →</a:t>
            </a:r>
            <a:r>
              <a:rPr dirty="0" err="1"/>
              <a:t>后退</a:t>
            </a:r>
            <a:r>
              <a:rPr dirty="0"/>
              <a:t>/</a:t>
            </a:r>
            <a:r>
              <a:rPr dirty="0" err="1"/>
              <a:t>右转避让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  →</a:t>
            </a:r>
            <a:r>
              <a:rPr dirty="0" err="1"/>
              <a:t>恢复后切回原模式</a:t>
            </a:r>
            <a:endParaRPr dirty="0"/>
          </a:p>
          <a:p>
            <a:pPr algn="l">
              <a:spcAft>
                <a:spcPts val="200"/>
              </a:spcAft>
              <a:defRPr sz="8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500" b="1">
                <a:solidFill>
                  <a:srgbClr val="E08020"/>
                </a:solidFill>
                <a:latin typeface="Microsoft YaHei"/>
              </a:defRPr>
            </a:pPr>
            <a:r>
              <a:rPr dirty="0" err="1"/>
              <a:t>手柄交互</a:t>
            </a:r>
            <a:r>
              <a:rPr dirty="0"/>
              <a:t>：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摇杆偏移</a:t>
            </a:r>
            <a:r>
              <a:rPr dirty="0"/>
              <a:t> = 原始值−128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  ±30死区 → </a:t>
            </a:r>
            <a:r>
              <a:rPr dirty="0" err="1"/>
              <a:t>过滤微颤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  |Y|&gt;|X| → </a:t>
            </a:r>
            <a:r>
              <a:rPr dirty="0" err="1"/>
              <a:t>前后优先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  A/B键：20~110调速</a:t>
            </a:r>
          </a:p>
          <a:p>
            <a:pPr algn="l">
              <a:spcAft>
                <a:spcPts val="200"/>
              </a:spcAft>
              <a:defRPr sz="1000" b="1">
                <a:solidFill>
                  <a:srgbClr val="005FAF"/>
                </a:solidFill>
                <a:latin typeface="Microsoft YaHei"/>
              </a:defRPr>
            </a:pPr>
            <a:r>
              <a:rPr dirty="0"/>
              <a:t>  </a:t>
            </a:r>
            <a:r>
              <a:rPr dirty="0" err="1"/>
              <a:t>手动模式</a:t>
            </a:r>
            <a:r>
              <a:rPr dirty="0"/>
              <a:t> = </a:t>
            </a:r>
            <a:r>
              <a:rPr dirty="0" err="1"/>
              <a:t>最高优先级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57200" y="3886200"/>
            <a:ext cx="11247120" cy="25603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332720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多传感器融合与系统状态机</a:t>
            </a:r>
            <a:endParaRPr dirty="0"/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sz="1200" dirty="0" err="1"/>
              <a:t>数据融合逻辑：超声波</a:t>
            </a:r>
            <a:r>
              <a:rPr sz="1200" dirty="0"/>
              <a:t>(TOF)→</a:t>
            </a:r>
            <a:r>
              <a:rPr sz="1200" dirty="0" err="1"/>
              <a:t>精确距离</a:t>
            </a:r>
            <a:r>
              <a:rPr sz="1200" dirty="0"/>
              <a:t>  ·  </a:t>
            </a:r>
            <a:r>
              <a:rPr sz="1200" dirty="0" err="1"/>
              <a:t>单目视觉→目标身份+宽视野</a:t>
            </a:r>
            <a:r>
              <a:rPr sz="1200" dirty="0"/>
              <a:t>  ·  DHT11→消除温度误差  →  </a:t>
            </a:r>
            <a:r>
              <a:rPr sz="1200" dirty="0" err="1"/>
              <a:t>三者互补：单传感器失效不导致系统崩溃</a:t>
            </a:r>
            <a:endParaRPr lang="en-US" sz="1200"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endParaRPr sz="1200" dirty="0"/>
          </a:p>
          <a:p>
            <a:pPr algn="l">
              <a:spcAft>
                <a:spcPts val="200"/>
              </a:spcAft>
              <a:defRPr sz="400" b="0">
                <a:solidFill>
                  <a:srgbClr val="1A1A1A"/>
                </a:solidFill>
                <a:latin typeface="Microsoft YaHei"/>
              </a:defRPr>
            </a:pPr>
            <a:endParaRPr sz="500"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lang="zh-CN" altLang="en-US" sz="1200" dirty="0"/>
              <a:t>六状态机：</a:t>
            </a:r>
            <a:r>
              <a:rPr lang="en-US" sz="1200" dirty="0"/>
              <a:t>INIT → FOLLOWING ⇄ OBSTACLE_AVOIDANCE → SEARCHING → FOLLOWING(</a:t>
            </a:r>
            <a:r>
              <a:rPr lang="zh-CN" altLang="en-US" sz="1200" dirty="0"/>
              <a:t>重捕获</a:t>
            </a:r>
            <a:r>
              <a:rPr lang="en-US" altLang="zh-CN" sz="1200" dirty="0"/>
              <a:t>)  |  </a:t>
            </a:r>
            <a:r>
              <a:rPr lang="en-US" sz="1200" dirty="0"/>
              <a:t>MANUAL </a:t>
            </a:r>
            <a:r>
              <a:rPr lang="zh-CN" altLang="en-US" sz="1200" dirty="0"/>
              <a:t>最高优先级可随时接管  </a:t>
            </a:r>
            <a:r>
              <a:rPr lang="en-US" altLang="zh-CN" sz="1200" dirty="0"/>
              <a:t>|  </a:t>
            </a:r>
            <a:r>
              <a:rPr lang="en-US" sz="1200" dirty="0"/>
              <a:t>EMERGENCY_STOP </a:t>
            </a:r>
            <a:r>
              <a:rPr lang="zh-CN" altLang="en-US" sz="1200" dirty="0"/>
              <a:t>全局安全兜底</a:t>
            </a:r>
            <a:endParaRPr lang="en-US" altLang="zh-CN" sz="1200"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endParaRPr lang="zh-CN" altLang="en-US" sz="1200" dirty="0"/>
          </a:p>
          <a:p>
            <a:pPr algn="l">
              <a:spcAft>
                <a:spcPts val="200"/>
              </a:spcAft>
              <a:defRPr sz="1100" b="1">
                <a:solidFill>
                  <a:srgbClr val="E08020"/>
                </a:solidFill>
                <a:latin typeface="Microsoft YaHei"/>
              </a:defRPr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关键仲裁：超声波距离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&lt;30cm →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无论当前处于何种状态 → 强制进入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OBSTACLE_AVOIDANCE →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安全动作完成 → 自动恢复原状态   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  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手动信号 → 覆盖自动模式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6 </a:t>
            </a:r>
            <a:r>
              <a:rPr dirty="0"/>
              <a:t> </a:t>
            </a:r>
            <a:r>
              <a:rPr dirty="0" err="1"/>
              <a:t>实验结果：超声波测距精度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848783" y="777239"/>
            <a:ext cx="4891617" cy="45719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589520" y="54864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FAF"/>
                </a:solidFill>
                <a:latin typeface="Microsoft YaHei"/>
              </a:defRPr>
            </a:pPr>
            <a:r>
              <a:rPr dirty="0"/>
              <a:t>表3  </a:t>
            </a:r>
            <a:r>
              <a:rPr dirty="0" err="1"/>
              <a:t>补偿前</a:t>
            </a:r>
            <a:r>
              <a:rPr dirty="0"/>
              <a:t> (v=340m/s)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0" y="822960"/>
          <a:ext cx="42976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/>
                        <a:t>#</a:t>
                      </a:r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实际</a:t>
                      </a:r>
                      <a:endParaRPr dirty="0"/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测量</a:t>
                      </a:r>
                      <a:endParaRPr dirty="0"/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误差</a:t>
                      </a:r>
                      <a:r>
                        <a:rPr dirty="0"/>
                        <a:t>%</a:t>
                      </a:r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15.8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15.3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−3.1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24.7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23.9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−3.2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30.3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29.5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−2.6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48.6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47.1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−3.1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90.0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87.6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−2.7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2286000"/>
            <a:ext cx="4297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FAF"/>
                </a:solidFill>
                <a:latin typeface="Microsoft YaHei"/>
              </a:defRPr>
            </a:pPr>
            <a:r>
              <a:rPr dirty="0"/>
              <a:t>表4  </a:t>
            </a:r>
            <a:r>
              <a:rPr dirty="0" err="1"/>
              <a:t>补偿后</a:t>
            </a:r>
            <a:r>
              <a:rPr dirty="0"/>
              <a:t> (v=347m/s)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589520" y="2560320"/>
          <a:ext cx="429768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44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/>
                        <a:t>#</a:t>
                      </a:r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实际</a:t>
                      </a:r>
                      <a:endParaRPr dirty="0"/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测量</a:t>
                      </a:r>
                      <a:endParaRPr dirty="0"/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误差</a:t>
                      </a:r>
                      <a:r>
                        <a:rPr dirty="0"/>
                        <a:t>%</a:t>
                      </a:r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15.8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15.9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+0.6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24.7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24.6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−0.4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30.3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30.3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0.0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48.6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48.4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−0.4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90.0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89.7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−0.3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6963" y="3840480"/>
            <a:ext cx="11247120" cy="26517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4233672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误差分析</a:t>
            </a:r>
            <a:endParaRPr dirty="0"/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补偿前：5组误差全部为负(−3.1%~−2.6%)·</a:t>
            </a:r>
            <a:r>
              <a:rPr dirty="0" err="1"/>
              <a:t>方向完全一致</a:t>
            </a:r>
            <a:r>
              <a:rPr dirty="0"/>
              <a:t> → </a:t>
            </a:r>
            <a:r>
              <a:rPr dirty="0" err="1"/>
              <a:t>排除随机噪声</a:t>
            </a:r>
            <a:r>
              <a:rPr dirty="0"/>
              <a:t> → </a:t>
            </a:r>
            <a:r>
              <a:rPr dirty="0" err="1"/>
              <a:t>确认为声速参数的系统性偏差</a:t>
            </a:r>
            <a:r>
              <a:rPr dirty="0"/>
              <a:t> [4]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根因：25.7°C时实际声速≈347.1m/s · 程序使用340m/s → 低估约2.05% → </a:t>
            </a:r>
            <a:r>
              <a:rPr dirty="0" err="1"/>
              <a:t>TOF公式</a:t>
            </a:r>
            <a:r>
              <a:rPr dirty="0"/>
              <a:t> S=</a:t>
            </a:r>
            <a:r>
              <a:rPr dirty="0" err="1"/>
              <a:t>v·T</a:t>
            </a:r>
            <a:r>
              <a:rPr dirty="0"/>
              <a:t>/2 </a:t>
            </a:r>
            <a:r>
              <a:rPr dirty="0" err="1"/>
              <a:t>中v与S成正比</a:t>
            </a:r>
            <a:r>
              <a:rPr dirty="0"/>
              <a:t> → </a:t>
            </a:r>
            <a:r>
              <a:rPr dirty="0" err="1"/>
              <a:t>测量值系统性偏小</a:t>
            </a:r>
            <a:endParaRPr dirty="0"/>
          </a:p>
          <a:p>
            <a:pPr algn="l">
              <a:spcAft>
                <a:spcPts val="200"/>
              </a:spcAft>
              <a:defRPr sz="4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300" b="1">
                <a:solidFill>
                  <a:srgbClr val="E08020"/>
                </a:solidFill>
                <a:latin typeface="Microsoft YaHei"/>
              </a:defRPr>
            </a:pPr>
            <a:r>
              <a:rPr dirty="0" err="1"/>
              <a:t>补偿后：误差</a:t>
            </a:r>
            <a:r>
              <a:rPr dirty="0"/>
              <a:t> −0.4%~+0.6% · </a:t>
            </a:r>
            <a:r>
              <a:rPr dirty="0" err="1"/>
              <a:t>平均绝对值</a:t>
            </a:r>
            <a:r>
              <a:rPr dirty="0"/>
              <a:t> 0.34% · 较补偿前缩小约10倍 · 远超设计指标±2% · DHT11成本&lt;¥5 → </a:t>
            </a:r>
            <a:r>
              <a:rPr dirty="0" err="1"/>
              <a:t>极高工程性价比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视觉测试：绿色标识物在30/50/100cm及±15°偏角下均稳定识别 · </a:t>
            </a:r>
            <a:r>
              <a:rPr dirty="0" err="1"/>
              <a:t>非绿干扰物零误识</a:t>
            </a:r>
            <a:r>
              <a:rPr dirty="0"/>
              <a:t> · 图像处理延迟30~35ms · </a:t>
            </a:r>
            <a:r>
              <a:rPr dirty="0" err="1"/>
              <a:t>不影响PID实时性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8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246543"/>
              </p:ext>
            </p:extLst>
          </p:nvPr>
        </p:nvGraphicFramePr>
        <p:xfrm>
          <a:off x="427025" y="1230864"/>
          <a:ext cx="68580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467852" y="1065742"/>
            <a:ext cx="67521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图 1  </a:t>
            </a:r>
            <a:r>
              <a:rPr dirty="0" err="1"/>
              <a:t>五组距离测量值对比：实际</a:t>
            </a:r>
            <a:r>
              <a:rPr dirty="0"/>
              <a:t> vs </a:t>
            </a:r>
            <a:r>
              <a:rPr dirty="0" err="1"/>
              <a:t>补偿前</a:t>
            </a:r>
            <a:r>
              <a:rPr dirty="0"/>
              <a:t> vs </a:t>
            </a:r>
            <a:r>
              <a:rPr dirty="0" err="1"/>
              <a:t>补偿后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" y="1828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7</a:t>
            </a:r>
            <a:r>
              <a:rPr dirty="0"/>
              <a:t>  </a:t>
            </a:r>
            <a:r>
              <a:rPr dirty="0" err="1"/>
              <a:t>实验结果：系统联调测试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 flipV="1">
            <a:off x="825500" y="781811"/>
            <a:ext cx="4572000" cy="45719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27550" y="1174750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FAF"/>
                </a:solidFill>
                <a:latin typeface="Microsoft YaHei"/>
              </a:defRPr>
            </a:pPr>
            <a:r>
              <a:rPr dirty="0"/>
              <a:t>表5  </a:t>
            </a:r>
            <a:r>
              <a:rPr dirty="0" err="1"/>
              <a:t>系统联调场景测试结果</a:t>
            </a:r>
            <a:r>
              <a:rPr dirty="0"/>
              <a:t> (每场景重复5次)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344377"/>
              </p:ext>
            </p:extLst>
          </p:nvPr>
        </p:nvGraphicFramePr>
        <p:xfrm>
          <a:off x="457200" y="1467358"/>
          <a:ext cx="112471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测试场景</a:t>
                      </a:r>
                      <a:endParaRPr dirty="0"/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测试方法</a:t>
                      </a:r>
                      <a:endParaRPr dirty="0"/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预期指标</a:t>
                      </a:r>
                      <a:endParaRPr dirty="0"/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超声波</a:t>
                      </a:r>
                      <a:endParaRPr dirty="0"/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视觉</a:t>
                      </a:r>
                      <a:endParaRPr dirty="0"/>
                    </a:p>
                  </a:txBody>
                  <a:tcPr anchor="ctr">
                    <a:solidFill>
                      <a:srgbClr val="005F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直线跟随</a:t>
                      </a:r>
                      <a:endParaRPr dirty="0"/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目标0.5m/</a:t>
                      </a:r>
                      <a:r>
                        <a:rPr dirty="0" err="1"/>
                        <a:t>s匀速</a:t>
                      </a:r>
                      <a:endParaRPr dirty="0"/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平稳,超调</a:t>
                      </a:r>
                      <a:r>
                        <a:rPr dirty="0"/>
                        <a:t>&lt;10cm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弯道跟随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沿R</a:t>
                      </a:r>
                      <a:r>
                        <a:rPr dirty="0"/>
                        <a:t>=2m圆弧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平滑,丢失≤1次/圈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速度适应</a:t>
                      </a:r>
                      <a:endParaRPr dirty="0"/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加至1.0再减至0.2m/s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响应</a:t>
                      </a:r>
                      <a:r>
                        <a:rPr dirty="0"/>
                        <a:t>&lt;0.5s,无碰撞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—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丢失恢复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离开视野约3s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10s内恢复,≥90%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防撞</a:t>
                      </a:r>
                      <a:endParaRPr dirty="0"/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后退至</a:t>
                      </a:r>
                      <a:r>
                        <a:rPr dirty="0"/>
                        <a:t>&lt;30cm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 err="1"/>
                        <a:t>紧急制动,无碰撞</a:t>
                      </a:r>
                      <a:endParaRPr dirty="0"/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rPr dirty="0"/>
                        <a:t>✓</a:t>
                      </a:r>
                    </a:p>
                  </a:txBody>
                  <a:tcPr anchor="ctr"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3657600"/>
            <a:ext cx="2651760" cy="12801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2651760" cy="36576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5FAF"/>
                </a:solidFill>
                <a:latin typeface="Microsoft YaHei"/>
              </a:defRPr>
            </a:pPr>
            <a:r>
              <a:rPr dirty="0"/>
              <a:t>&lt;0.5s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 err="1"/>
              <a:t>加减速响应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3383280" y="3657600"/>
            <a:ext cx="2651760" cy="12801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383280" y="3657600"/>
            <a:ext cx="2651760" cy="36576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383280" y="3794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0D0"/>
                </a:solidFill>
                <a:latin typeface="Microsoft YaHei"/>
              </a:defRPr>
            </a:pPr>
            <a:r>
              <a:rPr dirty="0"/>
              <a:t>&lt;¥1,000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 err="1"/>
              <a:t>硬件总成本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309360" y="3657600"/>
            <a:ext cx="2651760" cy="12801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6309360" y="3657600"/>
            <a:ext cx="2651760" cy="36576"/>
          </a:xfrm>
          <a:prstGeom prst="rect">
            <a:avLst/>
          </a:prstGeom>
          <a:solidFill>
            <a:srgbClr val="22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309360" y="3794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28040"/>
                </a:solidFill>
                <a:latin typeface="Microsoft YaHei"/>
              </a:defRPr>
            </a:pPr>
            <a:r>
              <a:rPr dirty="0"/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 err="1"/>
              <a:t>恢复成功率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9235440" y="3657600"/>
            <a:ext cx="2651760" cy="128016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9235440" y="3657600"/>
            <a:ext cx="2651760" cy="36576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9235440" y="3794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08020"/>
                </a:solidFill>
                <a:latin typeface="Microsoft YaHei"/>
              </a:defRPr>
            </a:pPr>
            <a:r>
              <a:rPr dirty="0"/>
              <a:t>0次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 err="1"/>
              <a:t>碰撞事件数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457200" y="5120640"/>
            <a:ext cx="3611880" cy="13716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457200" y="5120640"/>
            <a:ext cx="3611880" cy="27432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超声波模式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64008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✓ 4个场景达标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✓ 精确距离±0.6%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807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✓ </a:t>
            </a:r>
            <a:r>
              <a:rPr dirty="0" err="1"/>
              <a:t>无法区分加速</a:t>
            </a:r>
            <a:r>
              <a:rPr dirty="0"/>
              <a:t>/</a:t>
            </a:r>
            <a:r>
              <a:rPr dirty="0" err="1"/>
              <a:t>丢失</a:t>
            </a: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4297680" y="5120640"/>
            <a:ext cx="3611880" cy="13716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Rectangle 30"/>
          <p:cNvSpPr/>
          <p:nvPr/>
        </p:nvSpPr>
        <p:spPr>
          <a:xfrm>
            <a:off x="4297680" y="5120640"/>
            <a:ext cx="3611880" cy="27432"/>
          </a:xfrm>
          <a:prstGeom prst="rect">
            <a:avLst/>
          </a:prstGeom>
          <a:solidFill>
            <a:srgbClr val="009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448056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0D0"/>
                </a:solidFill>
                <a:latin typeface="Microsoft YaHei"/>
              </a:defRPr>
            </a:pPr>
            <a:r>
              <a:rPr dirty="0" err="1"/>
              <a:t>视觉模式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448056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✓ 全部5个场景达标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806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✓ </a:t>
            </a:r>
            <a:r>
              <a:rPr dirty="0" err="1"/>
              <a:t>目标身份+宽视野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4480560" y="60807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✓ </a:t>
            </a:r>
            <a:r>
              <a:rPr dirty="0" err="1"/>
              <a:t>光照敏感需关注</a:t>
            </a:r>
            <a:endParaRPr dirty="0"/>
          </a:p>
        </p:txBody>
      </p:sp>
      <p:sp>
        <p:nvSpPr>
          <p:cNvPr id="36" name="Rounded Rectangle 35"/>
          <p:cNvSpPr/>
          <p:nvPr/>
        </p:nvSpPr>
        <p:spPr>
          <a:xfrm>
            <a:off x="8138160" y="5120640"/>
            <a:ext cx="3611880" cy="137160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8138160" y="5120640"/>
            <a:ext cx="3611880" cy="27432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832104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8020"/>
                </a:solidFill>
                <a:latin typeface="Microsoft YaHei"/>
              </a:defRPr>
            </a:pPr>
            <a:r>
              <a:rPr dirty="0" err="1"/>
              <a:t>手柄测试</a:t>
            </a:r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8321040" y="55321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✓ 摇杆4方向100%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5806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✓ ±30死区有效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60807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✓ A/</a:t>
            </a:r>
            <a:r>
              <a:rPr dirty="0" err="1"/>
              <a:t>B调速正常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8</a:t>
            </a:r>
            <a:r>
              <a:rPr dirty="0"/>
              <a:t>  </a:t>
            </a:r>
            <a:r>
              <a:rPr dirty="0" err="1"/>
              <a:t>讨论与展望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731520" cy="27432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25603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576" cy="2560320"/>
          </a:xfrm>
          <a:prstGeom prst="rect">
            <a:avLst/>
          </a:prstGeom>
          <a:solidFill>
            <a:srgbClr val="CC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68096" y="1159844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当前局限性</a:t>
            </a:r>
            <a:endParaRPr dirty="0"/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1. </a:t>
            </a:r>
            <a:r>
              <a:rPr dirty="0" err="1"/>
              <a:t>视觉依赖固定HSV颜色阈值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</a:t>
            </a:r>
            <a:r>
              <a:rPr dirty="0" err="1"/>
              <a:t>同色干扰物存在误识风险</a:t>
            </a:r>
            <a:endParaRPr dirty="0"/>
          </a:p>
          <a:p>
            <a:pPr algn="l">
              <a:spcAft>
                <a:spcPts val="2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2. </a:t>
            </a:r>
            <a:r>
              <a:rPr dirty="0" err="1"/>
              <a:t>单目面积测距为定性控制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</a:t>
            </a:r>
            <a:r>
              <a:rPr dirty="0" err="1"/>
              <a:t>缺乏精确几何标定</a:t>
            </a:r>
            <a:r>
              <a:rPr dirty="0"/>
              <a:t>·&gt;2m不可靠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3. HC-SR04波束角约15°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</a:t>
            </a:r>
            <a:r>
              <a:rPr dirty="0" err="1"/>
              <a:t>存在侧向探测盲区</a:t>
            </a:r>
            <a:endParaRPr dirty="0"/>
          </a:p>
          <a:p>
            <a:pPr algn="l">
              <a:spcAft>
                <a:spcPts val="2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4. </a:t>
            </a:r>
            <a:r>
              <a:rPr dirty="0" err="1"/>
              <a:t>缺少里程计</a:t>
            </a:r>
            <a:r>
              <a:rPr dirty="0"/>
              <a:t>/</a:t>
            </a:r>
            <a:r>
              <a:rPr dirty="0" err="1"/>
              <a:t>IMU位姿反馈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</a:t>
            </a:r>
            <a:r>
              <a:rPr dirty="0" err="1"/>
              <a:t>长期运行累积定位漂移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486400" cy="25603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36576" cy="2560320"/>
          </a:xfrm>
          <a:prstGeom prst="rect">
            <a:avLst/>
          </a:prstGeom>
          <a:solidFill>
            <a:srgbClr val="22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626994" y="1159844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未来工作方向</a:t>
            </a:r>
            <a:endParaRPr dirty="0"/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1. </a:t>
            </a:r>
            <a:r>
              <a:rPr dirty="0" err="1"/>
              <a:t>深度学习目标检测</a:t>
            </a:r>
            <a:r>
              <a:rPr dirty="0"/>
              <a:t> (YOLO-nano)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</a:t>
            </a:r>
            <a:r>
              <a:rPr dirty="0" err="1"/>
              <a:t>替代手工颜色阈值→复杂背景鲁棒性</a:t>
            </a:r>
            <a:r>
              <a:rPr dirty="0"/>
              <a:t>↑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2. </a:t>
            </a:r>
            <a:r>
              <a:rPr dirty="0" err="1"/>
              <a:t>激光雷达</a:t>
            </a:r>
            <a:r>
              <a:rPr dirty="0"/>
              <a:t>/</a:t>
            </a:r>
            <a:r>
              <a:rPr dirty="0" err="1"/>
              <a:t>深度相机融合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LD19/RealSense→3D距离→SLAM导航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3. </a:t>
            </a:r>
            <a:r>
              <a:rPr dirty="0" err="1"/>
              <a:t>UWB室内精确定位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</a:t>
            </a:r>
            <a:r>
              <a:rPr dirty="0" err="1"/>
              <a:t>厘米级多车间相对定位→精确编队</a:t>
            </a:r>
            <a:endParaRPr dirty="0"/>
          </a:p>
          <a:p>
            <a:pPr algn="l">
              <a:spcAft>
                <a:spcPts val="2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4. </a:t>
            </a:r>
            <a:r>
              <a:rPr dirty="0" err="1"/>
              <a:t>PID参数系统化离线优化</a:t>
            </a:r>
            <a:r>
              <a:rPr dirty="0"/>
              <a:t> [5,9]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</a:t>
            </a:r>
            <a:r>
              <a:rPr dirty="0" err="1"/>
              <a:t>相角裕度法</a:t>
            </a:r>
            <a:r>
              <a:rPr dirty="0"/>
              <a:t>/</a:t>
            </a:r>
            <a:r>
              <a:rPr dirty="0" err="1"/>
              <a:t>IMC法→动态品质</a:t>
            </a:r>
            <a:r>
              <a:rPr dirty="0"/>
              <a:t>↑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5. </a:t>
            </a:r>
            <a:r>
              <a:rPr dirty="0" err="1"/>
              <a:t>多车实物集群联调验证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   ≥2台实物·评估通信时延/</a:t>
            </a:r>
            <a:r>
              <a:rPr dirty="0" err="1"/>
              <a:t>丢包</a:t>
            </a:r>
            <a:r>
              <a:rPr dirty="0"/>
              <a:t>/</a:t>
            </a:r>
            <a:r>
              <a:rPr dirty="0" err="1"/>
              <a:t>噪声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457200" y="3886200"/>
            <a:ext cx="11247120" cy="2560320"/>
          </a:xfrm>
          <a:prstGeom prst="round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005FAF"/>
                </a:solidFill>
                <a:latin typeface="Microsoft YaHei"/>
              </a:defRPr>
            </a:pPr>
            <a:r>
              <a:rPr dirty="0" err="1"/>
              <a:t>集群化设计</a:t>
            </a:r>
            <a:r>
              <a:rPr dirty="0"/>
              <a:t> (</a:t>
            </a:r>
            <a:r>
              <a:rPr dirty="0" err="1"/>
              <a:t>已预留扩展接口</a:t>
            </a:r>
            <a:r>
              <a:rPr dirty="0"/>
              <a:t>)</a:t>
            </a:r>
          </a:p>
          <a:p>
            <a:pPr algn="l">
              <a:spcAft>
                <a:spcPts val="200"/>
              </a:spcAft>
              <a:defRPr sz="6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/>
              <a:t>Wi-</a:t>
            </a:r>
            <a:r>
              <a:rPr dirty="0" err="1"/>
              <a:t>Fi对等网络</a:t>
            </a:r>
            <a:r>
              <a:rPr dirty="0"/>
              <a:t> → </a:t>
            </a:r>
            <a:r>
              <a:rPr dirty="0" err="1"/>
              <a:t>每车周期性广播</a:t>
            </a:r>
            <a:r>
              <a:rPr dirty="0"/>
              <a:t>(</a:t>
            </a:r>
            <a:r>
              <a:rPr dirty="0" err="1"/>
              <a:t>位置·速度·模式·电量</a:t>
            </a:r>
            <a:r>
              <a:rPr dirty="0"/>
              <a:t>) → </a:t>
            </a:r>
            <a:r>
              <a:rPr dirty="0" err="1"/>
              <a:t>全网络态势感知共享</a:t>
            </a:r>
            <a:endParaRPr dirty="0"/>
          </a:p>
          <a:p>
            <a:pPr algn="l">
              <a:spcAft>
                <a:spcPts val="200"/>
              </a:spcAft>
              <a:defRPr sz="1100" b="0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编队策略：Leader-Follower模型</a:t>
            </a:r>
            <a:r>
              <a:rPr dirty="0"/>
              <a:t> → </a:t>
            </a:r>
            <a:r>
              <a:rPr dirty="0" err="1"/>
              <a:t>Leader以现有算法跟踪人员</a:t>
            </a:r>
            <a:r>
              <a:rPr dirty="0"/>
              <a:t> → </a:t>
            </a:r>
            <a:r>
              <a:rPr dirty="0" err="1"/>
              <a:t>Follower以前车标识物为目标</a:t>
            </a:r>
            <a:r>
              <a:rPr dirty="0"/>
              <a:t> → </a:t>
            </a:r>
            <a:r>
              <a:rPr dirty="0" err="1"/>
              <a:t>复用视觉跟随</a:t>
            </a:r>
            <a:r>
              <a:rPr dirty="0"/>
              <a:t> → </a:t>
            </a:r>
            <a:r>
              <a:rPr dirty="0" err="1"/>
              <a:t>链式</a:t>
            </a:r>
            <a:r>
              <a:rPr dirty="0"/>
              <a:t>/</a:t>
            </a:r>
            <a:r>
              <a:rPr dirty="0" err="1"/>
              <a:t>楔形编队</a:t>
            </a:r>
            <a:endParaRPr dirty="0"/>
          </a:p>
          <a:p>
            <a:pPr algn="l">
              <a:spcAft>
                <a:spcPts val="200"/>
              </a:spcAft>
              <a:defRPr sz="400" b="0">
                <a:solidFill>
                  <a:srgbClr val="1A1A1A"/>
                </a:solidFill>
                <a:latin typeface="Microsoft YaHei"/>
              </a:defRPr>
            </a:pPr>
            <a:endParaRPr dirty="0"/>
          </a:p>
          <a:p>
            <a:pPr algn="l">
              <a:spcAft>
                <a:spcPts val="200"/>
              </a:spcAft>
              <a:defRPr sz="1200" b="1">
                <a:solidFill>
                  <a:srgbClr val="E08020"/>
                </a:solidFill>
                <a:latin typeface="Microsoft YaHei"/>
              </a:defRPr>
            </a:pPr>
            <a:r>
              <a:rPr dirty="0" err="1"/>
              <a:t>当前状态：架构设计+通信协议已完成</a:t>
            </a:r>
            <a:r>
              <a:rPr dirty="0"/>
              <a:t> · </a:t>
            </a:r>
            <a:r>
              <a:rPr dirty="0" err="1"/>
              <a:t>仿真验证阶段</a:t>
            </a:r>
            <a:r>
              <a:rPr dirty="0"/>
              <a:t> · </a:t>
            </a:r>
            <a:r>
              <a:rPr dirty="0" err="1"/>
              <a:t>尚未开展多车实物联调</a:t>
            </a:r>
            <a:r>
              <a:rPr dirty="0"/>
              <a:t> → </a:t>
            </a:r>
            <a:r>
              <a:rPr dirty="0" err="1"/>
              <a:t>未来首要验证目标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0</a:t>
            </a:r>
            <a:r>
              <a:rPr lang="en-US" dirty="0"/>
              <a:t>9</a:t>
            </a:r>
            <a:r>
              <a:rPr dirty="0"/>
              <a:t>  </a:t>
            </a:r>
            <a:r>
              <a:rPr dirty="0" err="1"/>
              <a:t>结束语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31520" y="777240"/>
            <a:ext cx="731520" cy="27432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502920" cy="502920"/>
          </a:xfrm>
          <a:prstGeom prst="round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17043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超声波-视觉双模融合感知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463040" y="1417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 err="1"/>
              <a:t>精确测距</a:t>
            </a:r>
            <a:r>
              <a:rPr dirty="0"/>
              <a:t>(TOF) + </a:t>
            </a:r>
            <a:r>
              <a:rPr dirty="0" err="1"/>
              <a:t>目标识别</a:t>
            </a:r>
            <a:r>
              <a:rPr dirty="0"/>
              <a:t> → </a:t>
            </a:r>
            <a:r>
              <a:rPr dirty="0" err="1"/>
              <a:t>互补增强</a:t>
            </a:r>
            <a:r>
              <a:rPr dirty="0"/>
              <a:t> → </a:t>
            </a:r>
            <a:r>
              <a:rPr dirty="0" err="1"/>
              <a:t>单传感器失效不崩溃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502920" cy="502920"/>
          </a:xfrm>
          <a:prstGeom prst="round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31520" y="217627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Microsoft YaHei"/>
              </a:defRPr>
            </a:pPr>
            <a:r>
              <a:rPr dirty="0"/>
              <a:t>DHT11温度补偿 · </a:t>
            </a:r>
            <a:r>
              <a:rPr dirty="0" err="1"/>
              <a:t>精度跃升</a:t>
            </a:r>
            <a:r>
              <a:rPr dirty="0"/>
              <a:t> ~10×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423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 err="1"/>
              <a:t>误差</a:t>
            </a:r>
            <a:r>
              <a:rPr dirty="0"/>
              <a:t> ±3.0% → ±0.6% (平均0.34%)  |  </a:t>
            </a:r>
            <a:r>
              <a:rPr dirty="0" err="1"/>
              <a:t>硬件成本</a:t>
            </a:r>
            <a:r>
              <a:rPr dirty="0"/>
              <a:t> &lt; ¥5  |  </a:t>
            </a:r>
            <a:r>
              <a:rPr dirty="0" err="1"/>
              <a:t>极高工程性价比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502920" cy="502920"/>
          </a:xfrm>
          <a:prstGeom prst="round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731520" y="318211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增量式PID双闭环</a:t>
            </a:r>
            <a:r>
              <a:rPr dirty="0"/>
              <a:t> · 5项场景全达标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429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 err="1"/>
              <a:t>速度环</a:t>
            </a:r>
            <a:r>
              <a:rPr dirty="0"/>
              <a:t>(</a:t>
            </a:r>
            <a:r>
              <a:rPr dirty="0" err="1"/>
              <a:t>距离</a:t>
            </a:r>
            <a:r>
              <a:rPr dirty="0"/>
              <a:t>) + </a:t>
            </a:r>
            <a:r>
              <a:rPr dirty="0" err="1"/>
              <a:t>转向环</a:t>
            </a:r>
            <a:r>
              <a:rPr dirty="0"/>
              <a:t>(</a:t>
            </a:r>
            <a:r>
              <a:rPr dirty="0" err="1"/>
              <a:t>偏航</a:t>
            </a:r>
            <a:r>
              <a:rPr dirty="0"/>
              <a:t>) → </a:t>
            </a:r>
            <a:r>
              <a:rPr dirty="0" err="1"/>
              <a:t>差速合成</a:t>
            </a:r>
            <a:r>
              <a:rPr dirty="0"/>
              <a:t> → </a:t>
            </a:r>
            <a:r>
              <a:rPr dirty="0" err="1"/>
              <a:t>响应</a:t>
            </a:r>
            <a:r>
              <a:rPr dirty="0"/>
              <a:t>&lt;0.5s · 恢复率100%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502920" cy="502920"/>
          </a:xfrm>
          <a:prstGeom prst="roundRect">
            <a:avLst/>
          </a:prstGeom>
          <a:solidFill>
            <a:srgbClr val="005F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731520" y="418795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手柄人机交互</a:t>
            </a:r>
            <a:r>
              <a:rPr dirty="0"/>
              <a:t> + </a:t>
            </a:r>
            <a:r>
              <a:rPr dirty="0" err="1"/>
              <a:t>集群扩展架构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1463040" y="4434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 err="1"/>
              <a:t>自动</a:t>
            </a:r>
            <a:r>
              <a:rPr dirty="0"/>
              <a:t>/</a:t>
            </a:r>
            <a:r>
              <a:rPr dirty="0" err="1"/>
              <a:t>手动无缝切换</a:t>
            </a:r>
            <a:r>
              <a:rPr dirty="0"/>
              <a:t> · </a:t>
            </a:r>
            <a:r>
              <a:rPr dirty="0" err="1"/>
              <a:t>手动最高优先级</a:t>
            </a:r>
            <a:r>
              <a:rPr dirty="0"/>
              <a:t> · </a:t>
            </a:r>
            <a:r>
              <a:rPr dirty="0" err="1"/>
              <a:t>预留多车协同接口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502920" cy="502920"/>
          </a:xfrm>
          <a:prstGeom prst="round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731520" y="519379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120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Microsoft YaHei"/>
              </a:defRPr>
            </a:pPr>
            <a:r>
              <a:rPr dirty="0" err="1"/>
              <a:t>低成本完整方案</a:t>
            </a:r>
            <a:r>
              <a:rPr dirty="0"/>
              <a:t> · </a:t>
            </a:r>
            <a:r>
              <a:rPr dirty="0" err="1"/>
              <a:t>硬件</a:t>
            </a:r>
            <a:r>
              <a:rPr dirty="0"/>
              <a:t> &lt; ¥1,000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440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树莓派4B + HC-SR04 + CSI + DHT11 + TB6612 + </a:t>
            </a:r>
            <a:r>
              <a:rPr dirty="0" err="1"/>
              <a:t>电机</a:t>
            </a:r>
            <a:r>
              <a:rPr dirty="0"/>
              <a:t> + </a:t>
            </a:r>
            <a:r>
              <a:rPr dirty="0" err="1"/>
              <a:t>手柄</a:t>
            </a:r>
            <a:r>
              <a:rPr dirty="0"/>
              <a:t> → </a:t>
            </a:r>
            <a:r>
              <a:rPr dirty="0" err="1"/>
              <a:t>高性价比验证</a:t>
            </a:r>
            <a:endParaRPr dirty="0"/>
          </a:p>
        </p:txBody>
      </p:sp>
      <p:sp>
        <p:nvSpPr>
          <p:cNvPr id="26" name="Rectangle 25"/>
          <p:cNvSpPr/>
          <p:nvPr/>
        </p:nvSpPr>
        <p:spPr>
          <a:xfrm>
            <a:off x="731520" y="6217920"/>
            <a:ext cx="10515600" cy="18288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08020"/>
                </a:solidFill>
                <a:latin typeface="Microsoft YaHei"/>
              </a:defRPr>
            </a:pPr>
            <a:r>
              <a:rPr dirty="0" err="1"/>
              <a:t>以低成本方案验证了超声波-视觉融合与PID双闭环控制在室内无轨跟随中的可行性与有效性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rPr lang="en-US" altLang="zh-CN" dirty="0"/>
              <a:t>THE END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846320" y="2834640"/>
            <a:ext cx="2468880" cy="36576"/>
          </a:xfrm>
          <a:prstGeom prst="rect">
            <a:avLst/>
          </a:prstGeom>
          <a:solidFill>
            <a:srgbClr val="E08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AABB"/>
                </a:solidFill>
                <a:latin typeface="Microsoft YaHei"/>
              </a:defRPr>
            </a:pPr>
            <a:r>
              <a:rPr dirty="0"/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14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崔  振    </a:t>
            </a:r>
            <a:r>
              <a:rPr dirty="0" err="1"/>
              <a:t>李金桂</a:t>
            </a:r>
            <a:endParaRPr dirty="0"/>
          </a:p>
          <a:p>
            <a:pPr algn="ctr">
              <a:spcAft>
                <a:spcPts val="200"/>
              </a:spcAft>
              <a:defRPr sz="1200" b="0">
                <a:solidFill>
                  <a:srgbClr val="99AABB"/>
                </a:solidFill>
                <a:latin typeface="Microsoft YaHei"/>
              </a:defRPr>
            </a:pPr>
            <a:r>
              <a:rPr dirty="0" err="1"/>
              <a:t>电子科技大学</a:t>
            </a:r>
            <a:r>
              <a:rPr dirty="0"/>
              <a:t>  |  </a:t>
            </a:r>
            <a:r>
              <a:rPr dirty="0" err="1"/>
              <a:t>专业写作基础课程项目</a:t>
            </a:r>
            <a:r>
              <a:rPr dirty="0"/>
              <a:t>  |  2026.07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83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6060"/>
                </a:solidFill>
                <a:latin typeface="Microsoft YaHei"/>
              </a:defRPr>
            </a:pPr>
            <a:r>
              <a:rPr dirty="0"/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1779</Words>
  <Application>Microsoft Office PowerPoint</Application>
  <PresentationFormat>宽屏</PresentationFormat>
  <Paragraphs>365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微软雅黑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18382059220@163.com</cp:lastModifiedBy>
  <cp:revision>6</cp:revision>
  <dcterms:created xsi:type="dcterms:W3CDTF">2013-01-27T09:14:16Z</dcterms:created>
  <dcterms:modified xsi:type="dcterms:W3CDTF">2026-07-14T07:39:29Z</dcterms:modified>
  <cp:category/>
</cp:coreProperties>
</file>